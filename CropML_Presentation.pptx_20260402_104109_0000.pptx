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imes New Roman Bold" charset="1" panose="02020803070505020304"/>
      <p:regular r:id="rId28"/>
    </p:embeddedFont>
    <p:embeddedFont>
      <p:font typeface="Times New Roman" charset="1" panose="02020603050405020304"/>
      <p:regular r:id="rId29"/>
    </p:embeddedFont>
    <p:embeddedFont>
      <p:font typeface="Consolas" charset="1" panose="020B0609020204030204"/>
      <p:regular r:id="rId38"/>
    </p:embeddedFont>
    <p:embeddedFont>
      <p:font typeface="Consolas Bold" charset="1" panose="020B0709020204030204"/>
      <p:regular r:id="rId41"/>
    </p:embeddedFont>
    <p:embeddedFont>
      <p:font typeface="Times New Roman Italics" charset="1" panose="02020503050405090304"/>
      <p:regular r:id="rId44"/>
    </p:embeddedFont>
    <p:embeddedFont>
      <p:font typeface="Georgia Bold" charset="1" panose="02040802050405020203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notesSlides/notesSlide17.xml" Type="http://schemas.openxmlformats.org/officeDocument/2006/relationships/notesSlide"/><Relationship Id="rId49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9.xml" Type="http://schemas.openxmlformats.org/officeDocument/2006/relationships/notesSlide"/><Relationship Id="rId51" Target="fonts/font51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29184"/>
            <a:chOff x="0" y="0"/>
            <a:chExt cx="2438400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38912"/>
            </a:xfrm>
            <a:custGeom>
              <a:avLst/>
              <a:gdLst/>
              <a:ahLst/>
              <a:cxnLst/>
              <a:rect r="r" b="b" t="t" l="l"/>
              <a:pathLst>
                <a:path h="4389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329184"/>
            <a:ext cx="18288000" cy="1828800"/>
            <a:chOff x="0" y="0"/>
            <a:chExt cx="2438400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0" y="7256145"/>
            <a:ext cx="2286000" cy="2286000"/>
            <a:chOff x="0" y="0"/>
            <a:chExt cx="2072640" cy="207264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232052" y="617220"/>
            <a:ext cx="14996160" cy="822960"/>
            <a:chOff x="0" y="0"/>
            <a:chExt cx="199948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5060" r="0" b="-3050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99948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UNIVERSITY OF AGRICULTURAL SCIENCES, BENGALURU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60320" y="1243584"/>
            <a:ext cx="14996160" cy="731520"/>
            <a:chOff x="0" y="0"/>
            <a:chExt cx="1999488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999488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College of Agriculture, GKVK — 560065 | EAI-421: AI &amp; ML in Agriculture (0+10)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651760"/>
            <a:ext cx="16459200" cy="4023360"/>
            <a:chOff x="0" y="0"/>
            <a:chExt cx="21945600" cy="536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743200"/>
            <a:ext cx="16459200" cy="3840480"/>
            <a:chOff x="0" y="0"/>
            <a:chExt cx="21945600" cy="5120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945600" cy="5139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b="true" sz="44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Title: Machine Learning based Crop Yield Prediction and Smart Crop Recommendation System for Indian Agriculture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58400" y="7132320"/>
            <a:ext cx="7315200" cy="640080"/>
            <a:chOff x="0" y="0"/>
            <a:chExt cx="975360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7536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2B78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TEAM: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058400" y="7772400"/>
            <a:ext cx="7315200" cy="1645920"/>
            <a:chOff x="0" y="0"/>
            <a:chExt cx="975360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75360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1.DEEKSHITHA.R - AMB2053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2.DAYANA ANJALI.S - AMB2050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3.MAITHREYI.S - AMB2126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9966960"/>
            <a:ext cx="18288000" cy="320040"/>
            <a:chOff x="0" y="0"/>
            <a:chExt cx="24384000" cy="426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0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 &amp; Review of Literature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645920"/>
            <a:ext cx="8321040" cy="7863840"/>
            <a:chOff x="0" y="0"/>
            <a:chExt cx="11094720" cy="10485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9472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737360"/>
            <a:ext cx="7315200" cy="640080"/>
            <a:chOff x="0" y="0"/>
            <a:chExt cx="975360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7536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080" y="1714500"/>
            <a:ext cx="7680960" cy="6858000"/>
            <a:chOff x="0" y="0"/>
            <a:chExt cx="10241280" cy="914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0"/>
                  </a:lnTo>
                  <a:lnTo>
                    <a:pt x="0" y="9144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56" t="0" r="-6455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0241280" cy="9153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India faces: erratic monsoons, soil degradation, pest outbreaks &amp; unpredictable market prices.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Traditional methods inadequate for modern agricultural complexity.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AIML Trends: Deep Learning for disease detection (95%+ accuracy), Ensemble ML for yield prediction, Federated Learning, XAI (SHAP/LIME), IoT smart farming.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NDAM 2021 &amp; ICAR recognise ML advisory systems as key to doubling farmer income.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18320" y="1645920"/>
            <a:ext cx="8321040" cy="7863840"/>
            <a:chOff x="0" y="0"/>
            <a:chExt cx="11094720" cy="10485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9472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84080" y="1737360"/>
            <a:ext cx="7315200" cy="640080"/>
            <a:chOff x="0" y="0"/>
            <a:chExt cx="975360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7536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Review of Literature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0" y="2148840"/>
            <a:ext cx="7680960" cy="6858000"/>
            <a:chOff x="0" y="0"/>
            <a:chExt cx="10241280" cy="914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12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0"/>
                  </a:lnTo>
                  <a:lnTo>
                    <a:pt x="0" y="9144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56" t="0" r="-6455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0241280" cy="9153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Thimmegowda et al. (2025): ANN outperforms SMLR/LASSO/ARIMAX/RF for Karnataka cotton yield — ANN nRMSE &lt;10% in 8/10 districts.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Pant (2019): RF achieves &gt;90% accuracy for multi-crop recommendation; ensemble methods generalise better.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Das et al. (2018): ANN consistently outperforms penalised regression for rice yield (RMSE, MAPE).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Khaki et al. (2021): Deep transfer learning achieves state-of-the-art in simultaneous corn &amp; soybean yield prediction.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Hu et al. (2024): Ensemble &amp; hybrid DL approaches best for climate-yield non-linear relationships.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828800"/>
            <a:ext cx="17190720" cy="2194560"/>
            <a:chOff x="0" y="0"/>
            <a:chExt cx="22920960" cy="2926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20961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828800"/>
            <a:ext cx="1280160" cy="2194560"/>
            <a:chOff x="0" y="0"/>
            <a:chExt cx="1706880" cy="2926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8640" y="1828800"/>
            <a:ext cx="1280160" cy="2194560"/>
            <a:chOff x="0" y="0"/>
            <a:chExt cx="1706880" cy="2926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706880" cy="2954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11680" y="2011680"/>
            <a:ext cx="15361920" cy="1828800"/>
            <a:chOff x="0" y="0"/>
            <a:chExt cx="20482560" cy="243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4825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0482560" cy="245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a Smart Crop Recommendation System using soil nutrients (N, P, K), climate parameters, soil type, and season for Karnataka using ML classifiers: Logistic Regression, Decision Tree, Naive Bayes &amp; Random Forest.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8640" y="4352544"/>
            <a:ext cx="17190720" cy="2194560"/>
            <a:chOff x="0" y="0"/>
            <a:chExt cx="22920960" cy="2926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920961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48640" y="4352544"/>
            <a:ext cx="1280160" cy="2194560"/>
            <a:chOff x="0" y="0"/>
            <a:chExt cx="1706880" cy="2926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068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48640" y="4352544"/>
            <a:ext cx="1280160" cy="2194560"/>
            <a:chOff x="0" y="0"/>
            <a:chExt cx="1706880" cy="2926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68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706880" cy="2954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011680" y="4535424"/>
            <a:ext cx="15361920" cy="1828800"/>
            <a:chOff x="0" y="0"/>
            <a:chExt cx="20482560" cy="2438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825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0482560" cy="245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Analyze and compare ML model performance for crop classification accuracy, and validate against base paper findings (ANN vs. SMLR/LASSO/RF/ARIMAX) on cotton yield prediction across 10 Karnataka districts.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8640" y="6876288"/>
            <a:ext cx="17190720" cy="2194560"/>
            <a:chOff x="0" y="0"/>
            <a:chExt cx="22920960" cy="2926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920961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8640" y="6876288"/>
            <a:ext cx="1280160" cy="2194560"/>
            <a:chOff x="0" y="0"/>
            <a:chExt cx="1706880" cy="2926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068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48640" y="6876288"/>
            <a:ext cx="1280160" cy="2194560"/>
            <a:chOff x="0" y="0"/>
            <a:chExt cx="1706880" cy="2926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68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706880" cy="2954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011680" y="7059168"/>
            <a:ext cx="15361920" cy="1828800"/>
            <a:chOff x="0" y="0"/>
            <a:chExt cx="20482560" cy="2438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825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0482560" cy="245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Propose a scalable, IoT-enabled framework for real-world deployment incorporating real-time soil/weather sensor data, aligned with India's National Digital Agriculture Mission (NDAM) 2021 goals.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Materials &amp; Requirements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7315200" cy="585216"/>
            <a:chOff x="0" y="0"/>
            <a:chExt cx="975360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7536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Datasets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548640" y="2194560"/>
          <a:ext cx="17170400" cy="1920875"/>
        </p:xfrm>
        <a:graphic>
          <a:graphicData uri="http://schemas.openxmlformats.org/drawingml/2006/table">
            <a:tbl>
              <a:tblPr/>
              <a:tblGrid>
                <a:gridCol w="4746576"/>
                <a:gridCol w="3657033"/>
                <a:gridCol w="2749080"/>
                <a:gridCol w="6017711"/>
              </a:tblGrid>
              <a:tr h="6402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Source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Records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Features / Target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6402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Karnataka Crop Dataset V2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Kaggle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21,960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 features / 39 crop classes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2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Cotton Yield Data (Base Paper)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IMD / Govt. Karnataka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 yrs (1990–2023)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 weather indices / Yield kg/hm²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548640" y="4297680"/>
            <a:ext cx="12801600" cy="585216"/>
            <a:chOff x="0" y="0"/>
            <a:chExt cx="1706880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235" r="0" b="-37623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70688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Software &amp; Hardware Requirements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548640" y="4937760"/>
          <a:ext cx="17170400" cy="4473575"/>
        </p:xfrm>
        <a:graphic>
          <a:graphicData uri="http://schemas.openxmlformats.org/drawingml/2006/table">
            <a:tbl>
              <a:tblPr/>
              <a:tblGrid>
                <a:gridCol w="5853315"/>
                <a:gridCol w="11317085"/>
              </a:tblGrid>
              <a:tr h="639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Component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Specification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639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 3.9+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Core Libraries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pandas, numpy, scikit-learn, matplotlib, seaborn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Jupyter Notebook / VS Code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Operating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Windows 10 / Ubuntu 20.04+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RAM / Storage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GB+ RAM (16 GB recommended) | 5 GB free disk space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Intel Core i5 or equivalent (GPU optional for deep learning)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 — Block Diagram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5760" y="1828800"/>
            <a:ext cx="2706624" cy="6949440"/>
            <a:chOff x="0" y="0"/>
            <a:chExt cx="3608832" cy="926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1872" y="1920240"/>
            <a:ext cx="914400" cy="914400"/>
            <a:chOff x="0" y="0"/>
            <a:chExt cx="12192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61872" y="1920240"/>
            <a:ext cx="914400" cy="914400"/>
            <a:chOff x="0" y="0"/>
            <a:chExt cx="121920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219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57200" y="3017520"/>
            <a:ext cx="2523744" cy="1463040"/>
            <a:chOff x="0" y="0"/>
            <a:chExt cx="3364992" cy="1950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364992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INGESTION LAYER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57200" y="4572000"/>
            <a:ext cx="2523744" cy="3840480"/>
            <a:chOff x="0" y="0"/>
            <a:chExt cx="3364992" cy="5120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64992" cy="5120640"/>
            </a:xfrm>
            <a:custGeom>
              <a:avLst/>
              <a:gdLst/>
              <a:ahLst/>
              <a:cxnLst/>
              <a:rect r="r" b="b" t="t" l="l"/>
              <a:pathLst>
                <a:path h="51206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244" t="0" r="-14524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364992" cy="5139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Kaggle CSV + IMD Historical Weather / Yield Data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53334" y="5284470"/>
            <a:ext cx="312420" cy="38100"/>
            <a:chOff x="0" y="0"/>
            <a:chExt cx="416560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255264" y="1828800"/>
            <a:ext cx="2706624" cy="6949440"/>
            <a:chOff x="0" y="0"/>
            <a:chExt cx="3608832" cy="9265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151376" y="1920240"/>
            <a:ext cx="914400" cy="914400"/>
            <a:chOff x="0" y="0"/>
            <a:chExt cx="121920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151376" y="1920240"/>
            <a:ext cx="914400" cy="914400"/>
            <a:chOff x="0" y="0"/>
            <a:chExt cx="121920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219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D6A4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346704" y="3017520"/>
            <a:ext cx="2523744" cy="1463040"/>
            <a:chOff x="0" y="0"/>
            <a:chExt cx="3364992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364992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PREPROCESSING MODULE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346704" y="4572000"/>
            <a:ext cx="2523744" cy="3840480"/>
            <a:chOff x="0" y="0"/>
            <a:chExt cx="3364992" cy="5120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64992" cy="5120640"/>
            </a:xfrm>
            <a:custGeom>
              <a:avLst/>
              <a:gdLst/>
              <a:ahLst/>
              <a:cxnLst/>
              <a:rect r="r" b="b" t="t" l="l"/>
              <a:pathLst>
                <a:path h="51206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244" t="0" r="-14524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364992" cy="5139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Null Handling | Label Encoding | Feature Scaling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942838" y="5284470"/>
            <a:ext cx="312420" cy="38100"/>
            <a:chOff x="0" y="0"/>
            <a:chExt cx="416560" cy="50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144768" y="1828800"/>
            <a:ext cx="2706624" cy="6949440"/>
            <a:chOff x="0" y="0"/>
            <a:chExt cx="3608832" cy="92659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40916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040880" y="1920240"/>
            <a:ext cx="914400" cy="914400"/>
            <a:chOff x="0" y="0"/>
            <a:chExt cx="121920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040880" y="1920240"/>
            <a:ext cx="914400" cy="914400"/>
            <a:chOff x="0" y="0"/>
            <a:chExt cx="1219200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219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40916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236208" y="3017520"/>
            <a:ext cx="2523744" cy="1463040"/>
            <a:chOff x="0" y="0"/>
            <a:chExt cx="3364992" cy="1950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3364992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EDA &amp; FEATURE ENGINEERING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236208" y="4572000"/>
            <a:ext cx="2523744" cy="3840480"/>
            <a:chOff x="0" y="0"/>
            <a:chExt cx="3364992" cy="5120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64992" cy="5120640"/>
            </a:xfrm>
            <a:custGeom>
              <a:avLst/>
              <a:gdLst/>
              <a:ahLst/>
              <a:cxnLst/>
              <a:rect r="r" b="b" t="t" l="l"/>
              <a:pathLst>
                <a:path h="51206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244" t="0" r="-14524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364992" cy="5139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Statistical Analysis | Correlation | Heatmaps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832342" y="5284470"/>
            <a:ext cx="312420" cy="38100"/>
            <a:chOff x="0" y="0"/>
            <a:chExt cx="416560" cy="50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034272" y="1828800"/>
            <a:ext cx="2706624" cy="6949440"/>
            <a:chOff x="0" y="0"/>
            <a:chExt cx="3608832" cy="92659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930384" y="1920240"/>
            <a:ext cx="914400" cy="914400"/>
            <a:chOff x="0" y="0"/>
            <a:chExt cx="121920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930384" y="1920240"/>
            <a:ext cx="914400" cy="914400"/>
            <a:chOff x="0" y="0"/>
            <a:chExt cx="1219200" cy="1219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1219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52B78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25712" y="3017520"/>
            <a:ext cx="2523744" cy="1463040"/>
            <a:chOff x="0" y="0"/>
            <a:chExt cx="3364992" cy="19507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364992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TRAINING ENGINE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25712" y="4572000"/>
            <a:ext cx="2523744" cy="3840480"/>
            <a:chOff x="0" y="0"/>
            <a:chExt cx="3364992" cy="5120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64992" cy="5120640"/>
            </a:xfrm>
            <a:custGeom>
              <a:avLst/>
              <a:gdLst/>
              <a:ahLst/>
              <a:cxnLst/>
              <a:rect r="r" b="b" t="t" l="l"/>
              <a:pathLst>
                <a:path h="51206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244" t="0" r="-145244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364992" cy="5139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Logistic Regression | Decision Tree | Naive Bayes | Random Forest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721846" y="5284470"/>
            <a:ext cx="312420" cy="38100"/>
            <a:chOff x="0" y="0"/>
            <a:chExt cx="416560" cy="50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923776" y="1828800"/>
            <a:ext cx="2706624" cy="6949440"/>
            <a:chOff x="0" y="0"/>
            <a:chExt cx="3608832" cy="92659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74C69D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819888" y="1920240"/>
            <a:ext cx="914400" cy="914400"/>
            <a:chOff x="0" y="0"/>
            <a:chExt cx="121920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819888" y="1920240"/>
            <a:ext cx="914400" cy="914400"/>
            <a:chOff x="0" y="0"/>
            <a:chExt cx="1219200" cy="1219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219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74C69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015216" y="3017520"/>
            <a:ext cx="2523744" cy="1463040"/>
            <a:chOff x="0" y="0"/>
            <a:chExt cx="3364992" cy="19507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3364992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2D343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EVALUATION MODULE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015216" y="4572000"/>
            <a:ext cx="2523744" cy="3840480"/>
            <a:chOff x="0" y="0"/>
            <a:chExt cx="3364992" cy="5120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364992" cy="5120640"/>
            </a:xfrm>
            <a:custGeom>
              <a:avLst/>
              <a:gdLst/>
              <a:ahLst/>
              <a:cxnLst/>
              <a:rect r="r" b="b" t="t" l="l"/>
              <a:pathLst>
                <a:path h="51206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244" t="0" r="-145244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3364992" cy="5139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Accuracy | RMSE | nRMSE | MAPE | F1 Score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611350" y="5284470"/>
            <a:ext cx="312420" cy="38100"/>
            <a:chOff x="0" y="0"/>
            <a:chExt cx="416560" cy="50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25400" y="0"/>
              <a:ext cx="365760" cy="50800"/>
            </a:xfrm>
            <a:custGeom>
              <a:avLst/>
              <a:gdLst/>
              <a:ahLst/>
              <a:cxnLst/>
              <a:rect r="r" b="b" t="t" l="l"/>
              <a:pathLst>
                <a:path h="508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4813280" y="1828800"/>
            <a:ext cx="2706624" cy="6949440"/>
            <a:chOff x="0" y="0"/>
            <a:chExt cx="3608832" cy="92659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95D5B2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5709392" y="1920240"/>
            <a:ext cx="914400" cy="914400"/>
            <a:chOff x="0" y="0"/>
            <a:chExt cx="1219200" cy="1219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5709392" y="1920240"/>
            <a:ext cx="914400" cy="914400"/>
            <a:chOff x="0" y="0"/>
            <a:chExt cx="1219200" cy="1219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1219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95D5B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904720" y="3017520"/>
            <a:ext cx="2523744" cy="1463040"/>
            <a:chOff x="0" y="0"/>
            <a:chExt cx="3364992" cy="19507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364992" cy="1950720"/>
            </a:xfrm>
            <a:custGeom>
              <a:avLst/>
              <a:gdLst/>
              <a:ahLst/>
              <a:cxnLst/>
              <a:rect r="r" b="b" t="t" l="l"/>
              <a:pathLst>
                <a:path h="19507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378" t="0" r="-24378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3364992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2D343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RECOMMENDATION OUTPUT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904720" y="4572000"/>
            <a:ext cx="2523744" cy="3840480"/>
            <a:chOff x="0" y="0"/>
            <a:chExt cx="3364992" cy="5120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364992" cy="5120640"/>
            </a:xfrm>
            <a:custGeom>
              <a:avLst/>
              <a:gdLst/>
              <a:ahLst/>
              <a:cxnLst/>
              <a:rect r="r" b="b" t="t" l="l"/>
              <a:pathLst>
                <a:path h="512064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5244" t="0" r="-145244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3364992" cy="5139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 Crop Recommendation | Report Export | API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 — Flowchart &amp; UML Use Case Diagram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8229600" cy="7955280"/>
            <a:chOff x="0" y="0"/>
            <a:chExt cx="10972800" cy="10607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645920"/>
            <a:ext cx="7315200" cy="548640"/>
            <a:chOff x="0" y="0"/>
            <a:chExt cx="97536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753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Flowchart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6563828" y="-1931553"/>
            <a:ext cx="6681754" cy="15486431"/>
          </a:xfrm>
          <a:custGeom>
            <a:avLst/>
            <a:gdLst/>
            <a:ahLst/>
            <a:cxnLst/>
            <a:rect r="r" b="b" t="t" l="l"/>
            <a:pathLst>
              <a:path h="15486431" w="6681754">
                <a:moveTo>
                  <a:pt x="0" y="0"/>
                </a:moveTo>
                <a:lnTo>
                  <a:pt x="6681754" y="0"/>
                </a:lnTo>
                <a:lnTo>
                  <a:pt x="6681754" y="15486430"/>
                </a:lnTo>
                <a:lnTo>
                  <a:pt x="0" y="15486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78" t="0" r="-6301" b="-149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 — Flowchart &amp; UML Use Case Diagram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54891" y="1520434"/>
            <a:ext cx="7680960" cy="548640"/>
            <a:chOff x="0" y="0"/>
            <a:chExt cx="102412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2412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UML — Use Case Diagram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92301" y="2069074"/>
            <a:ext cx="15103398" cy="7383293"/>
          </a:xfrm>
          <a:custGeom>
            <a:avLst/>
            <a:gdLst/>
            <a:ahLst/>
            <a:cxnLst/>
            <a:rect r="r" b="b" t="t" l="l"/>
            <a:pathLst>
              <a:path h="7383293" w="15103398">
                <a:moveTo>
                  <a:pt x="0" y="0"/>
                </a:moveTo>
                <a:lnTo>
                  <a:pt x="15103398" y="0"/>
                </a:lnTo>
                <a:lnTo>
                  <a:pt x="15103398" y="7383292"/>
                </a:lnTo>
                <a:lnTo>
                  <a:pt x="0" y="7383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979" r="0" b="-14962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 — Class Diagram &amp; Activity Diagram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55270" y="2884932"/>
            <a:ext cx="9947910" cy="5879592"/>
            <a:chOff x="0" y="0"/>
            <a:chExt cx="13263880" cy="78394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263880" cy="7839456"/>
            </a:xfrm>
            <a:custGeom>
              <a:avLst/>
              <a:gdLst/>
              <a:ahLst/>
              <a:cxnLst/>
              <a:rect r="r" b="b" t="t" l="l"/>
              <a:pathLst>
                <a:path h="7839456" w="13263880">
                  <a:moveTo>
                    <a:pt x="0" y="0"/>
                  </a:moveTo>
                  <a:lnTo>
                    <a:pt x="13263880" y="0"/>
                  </a:lnTo>
                  <a:lnTo>
                    <a:pt x="13263880" y="7839456"/>
                  </a:lnTo>
                  <a:lnTo>
                    <a:pt x="0" y="7839456"/>
                  </a:lnTo>
                  <a:close/>
                </a:path>
              </a:pathLst>
            </a:custGeom>
            <a:blipFill>
              <a:blip r:embed="rId4"/>
              <a:stretch>
                <a:fillRect l="0" t="-10486" r="0" b="-1048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645920"/>
            <a:ext cx="7315200" cy="548640"/>
            <a:chOff x="0" y="0"/>
            <a:chExt cx="97536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753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Class Diagram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6880" y="1554480"/>
            <a:ext cx="8412480" cy="7955280"/>
            <a:chOff x="0" y="0"/>
            <a:chExt cx="11216640" cy="10607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1664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92640" y="1645920"/>
            <a:ext cx="7680960" cy="548640"/>
            <a:chOff x="0" y="0"/>
            <a:chExt cx="1024128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02412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UML — Activity Diagram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0" y="2286000"/>
            <a:ext cx="1828800" cy="640080"/>
            <a:chOff x="0" y="0"/>
            <a:chExt cx="243840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01200" y="2286000"/>
            <a:ext cx="1828800" cy="640080"/>
            <a:chOff x="0" y="0"/>
            <a:chExt cx="243840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4384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START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12880" y="2286000"/>
            <a:ext cx="5852160" cy="640080"/>
            <a:chOff x="0" y="0"/>
            <a:chExt cx="7802880" cy="853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8028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Farmer opens application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496550" y="2907030"/>
            <a:ext cx="38100" cy="202692"/>
            <a:chOff x="0" y="0"/>
            <a:chExt cx="50800" cy="2702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25400"/>
              <a:ext cx="50800" cy="219456"/>
            </a:xfrm>
            <a:custGeom>
              <a:avLst/>
              <a:gdLst/>
              <a:ahLst/>
              <a:cxnLst/>
              <a:rect r="r" b="b" t="t" l="l"/>
              <a:pathLst>
                <a:path h="219456" w="50800">
                  <a:moveTo>
                    <a:pt x="50800" y="0"/>
                  </a:moveTo>
                  <a:lnTo>
                    <a:pt x="50800" y="219456"/>
                  </a:lnTo>
                  <a:lnTo>
                    <a:pt x="0" y="2194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01200" y="3090672"/>
            <a:ext cx="1828800" cy="640080"/>
            <a:chOff x="0" y="0"/>
            <a:chExt cx="243840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01200" y="3090672"/>
            <a:ext cx="1828800" cy="640080"/>
            <a:chOff x="0" y="0"/>
            <a:chExt cx="24384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24384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INPUT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612880" y="3090672"/>
            <a:ext cx="5852160" cy="640080"/>
            <a:chOff x="0" y="0"/>
            <a:chExt cx="780288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78028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Enter N, P, K, Temp, Humidity, Rainfall, pH, Soil Type, Season, Region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496550" y="3711702"/>
            <a:ext cx="38100" cy="202692"/>
            <a:chOff x="0" y="0"/>
            <a:chExt cx="50800" cy="2702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25400"/>
              <a:ext cx="50800" cy="219456"/>
            </a:xfrm>
            <a:custGeom>
              <a:avLst/>
              <a:gdLst/>
              <a:ahLst/>
              <a:cxnLst/>
              <a:rect r="r" b="b" t="t" l="l"/>
              <a:pathLst>
                <a:path h="219456" w="50800">
                  <a:moveTo>
                    <a:pt x="50800" y="0"/>
                  </a:moveTo>
                  <a:lnTo>
                    <a:pt x="50800" y="219456"/>
                  </a:lnTo>
                  <a:lnTo>
                    <a:pt x="0" y="2194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01200" y="3895344"/>
            <a:ext cx="1828800" cy="640080"/>
            <a:chOff x="0" y="0"/>
            <a:chExt cx="24384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01200" y="3895344"/>
            <a:ext cx="1828800" cy="640080"/>
            <a:chOff x="0" y="0"/>
            <a:chExt cx="243840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4384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2D343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VALIDATE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612880" y="3895344"/>
            <a:ext cx="5852160" cy="640080"/>
            <a:chOff x="0" y="0"/>
            <a:chExt cx="780288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78028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validates inputs (range checks, completeness)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496550" y="4516374"/>
            <a:ext cx="38100" cy="202692"/>
            <a:chOff x="0" y="0"/>
            <a:chExt cx="50800" cy="2702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25400"/>
              <a:ext cx="50800" cy="219456"/>
            </a:xfrm>
            <a:custGeom>
              <a:avLst/>
              <a:gdLst/>
              <a:ahLst/>
              <a:cxnLst/>
              <a:rect r="r" b="b" t="t" l="l"/>
              <a:pathLst>
                <a:path h="219456" w="50800">
                  <a:moveTo>
                    <a:pt x="50800" y="0"/>
                  </a:moveTo>
                  <a:lnTo>
                    <a:pt x="50800" y="219456"/>
                  </a:lnTo>
                  <a:lnTo>
                    <a:pt x="0" y="2194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01200" y="4700016"/>
            <a:ext cx="1828800" cy="640080"/>
            <a:chOff x="0" y="0"/>
            <a:chExt cx="243840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01200" y="4700016"/>
            <a:ext cx="1828800" cy="640080"/>
            <a:chOff x="0" y="0"/>
            <a:chExt cx="243840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24384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2D343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PREPROCESS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612880" y="4700016"/>
            <a:ext cx="5852160" cy="640080"/>
            <a:chOff x="0" y="0"/>
            <a:chExt cx="7802880" cy="8534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78028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Encode categoricals, scale numericals using stored scaler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496550" y="5321046"/>
            <a:ext cx="38100" cy="202692"/>
            <a:chOff x="0" y="0"/>
            <a:chExt cx="50800" cy="2702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25400"/>
              <a:ext cx="50800" cy="219456"/>
            </a:xfrm>
            <a:custGeom>
              <a:avLst/>
              <a:gdLst/>
              <a:ahLst/>
              <a:cxnLst/>
              <a:rect r="r" b="b" t="t" l="l"/>
              <a:pathLst>
                <a:path h="219456" w="50800">
                  <a:moveTo>
                    <a:pt x="50800" y="0"/>
                  </a:moveTo>
                  <a:lnTo>
                    <a:pt x="50800" y="219456"/>
                  </a:lnTo>
                  <a:lnTo>
                    <a:pt x="0" y="2194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01200" y="5504688"/>
            <a:ext cx="1828800" cy="640080"/>
            <a:chOff x="0" y="0"/>
            <a:chExt cx="243840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D4AC0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601200" y="5504688"/>
            <a:ext cx="1828800" cy="640080"/>
            <a:chOff x="0" y="0"/>
            <a:chExt cx="243840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24384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2D343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PREDICT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612880" y="5504688"/>
            <a:ext cx="5852160" cy="640080"/>
            <a:chOff x="0" y="0"/>
            <a:chExt cx="7802880" cy="853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78028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Apply Random Forest → generate crop probabilities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496550" y="6125718"/>
            <a:ext cx="38100" cy="202692"/>
            <a:chOff x="0" y="0"/>
            <a:chExt cx="50800" cy="27025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25400"/>
              <a:ext cx="50800" cy="219456"/>
            </a:xfrm>
            <a:custGeom>
              <a:avLst/>
              <a:gdLst/>
              <a:ahLst/>
              <a:cxnLst/>
              <a:rect r="r" b="b" t="t" l="l"/>
              <a:pathLst>
                <a:path h="219456" w="50800">
                  <a:moveTo>
                    <a:pt x="50800" y="0"/>
                  </a:moveTo>
                  <a:lnTo>
                    <a:pt x="50800" y="219456"/>
                  </a:lnTo>
                  <a:lnTo>
                    <a:pt x="0" y="2194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01200" y="6309360"/>
            <a:ext cx="1828800" cy="640080"/>
            <a:chOff x="0" y="0"/>
            <a:chExt cx="2438400" cy="8534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01200" y="6309360"/>
            <a:ext cx="1828800" cy="640080"/>
            <a:chOff x="0" y="0"/>
            <a:chExt cx="243840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24384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2D343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OUTPUT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612880" y="6309360"/>
            <a:ext cx="5852160" cy="640080"/>
            <a:chOff x="0" y="0"/>
            <a:chExt cx="7802880" cy="8534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78028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Display top crop + confidence score + soil tips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496550" y="6930390"/>
            <a:ext cx="38100" cy="202692"/>
            <a:chOff x="0" y="0"/>
            <a:chExt cx="50800" cy="2702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25400"/>
              <a:ext cx="50800" cy="219456"/>
            </a:xfrm>
            <a:custGeom>
              <a:avLst/>
              <a:gdLst/>
              <a:ahLst/>
              <a:cxnLst/>
              <a:rect r="r" b="b" t="t" l="l"/>
              <a:pathLst>
                <a:path h="219456" w="50800">
                  <a:moveTo>
                    <a:pt x="50800" y="0"/>
                  </a:moveTo>
                  <a:lnTo>
                    <a:pt x="50800" y="219456"/>
                  </a:lnTo>
                  <a:lnTo>
                    <a:pt x="0" y="2194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601200" y="7114032"/>
            <a:ext cx="1828800" cy="640080"/>
            <a:chOff x="0" y="0"/>
            <a:chExt cx="2438400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601200" y="7114032"/>
            <a:ext cx="1828800" cy="640080"/>
            <a:chOff x="0" y="0"/>
            <a:chExt cx="2438400" cy="853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24384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END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612880" y="7114032"/>
            <a:ext cx="5852160" cy="640080"/>
            <a:chOff x="0" y="0"/>
            <a:chExt cx="7802880" cy="8534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78028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Recommendation logged for analytics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Python Code — Model Training &amp; Evaluation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17190720" cy="7955280"/>
            <a:chOff x="0" y="0"/>
            <a:chExt cx="22920960" cy="10607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20961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371600"/>
            <a:ext cx="17739360" cy="10089263"/>
            <a:chOff x="0" y="0"/>
            <a:chExt cx="23652480" cy="13452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652480" cy="13452351"/>
            </a:xfrm>
            <a:custGeom>
              <a:avLst/>
              <a:gdLst/>
              <a:ahLst/>
              <a:cxnLst/>
              <a:rect r="r" b="b" t="t" l="l"/>
              <a:pathLst>
                <a:path h="13452351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52351"/>
                  </a:lnTo>
                  <a:lnTo>
                    <a:pt x="0" y="13452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" t="0" r="-623" b="256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3652480" cy="13499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import pandas as pd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import numpy as np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import matplotlib.pyplot as plt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from sklearn.ensemble import RandomForestClassifier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from sklearn.tree import DecisionTreeClassifier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from sklearn.linear_model import LogisticRegression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from sklearn.naive_bayes import GaussianNB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from sklearn.model_selection import train_test_split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from sklearn.preprocessing import LabelEncoder, StandardScaler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from sklearn.metrics import accuracy_score, classification_report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 Load dataset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df = pd.read_csv("karnataka_crop_dataset_V2.csv")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 Encode categorical features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le = LabelEncoder()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for col in ["soil_type", "season", "region", "label"]: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df[col] = le.fit_transform(df[col])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df = df.drop(columns=["district"])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Python Code — Model Loop &amp; Test Predictions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17190720" cy="7955280"/>
            <a:chOff x="0" y="0"/>
            <a:chExt cx="22920960" cy="10607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20961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371600"/>
            <a:ext cx="15039668" cy="17437410"/>
            <a:chOff x="0" y="0"/>
            <a:chExt cx="20052890" cy="23249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52891" cy="23249880"/>
            </a:xfrm>
            <a:custGeom>
              <a:avLst/>
              <a:gdLst/>
              <a:ahLst/>
              <a:cxnLst/>
              <a:rect r="r" b="b" t="t" l="l"/>
              <a:pathLst>
                <a:path h="23249880" w="20052891">
                  <a:moveTo>
                    <a:pt x="0" y="0"/>
                  </a:moveTo>
                  <a:lnTo>
                    <a:pt x="20052891" y="0"/>
                  </a:lnTo>
                  <a:lnTo>
                    <a:pt x="20052891" y="23249880"/>
                  </a:lnTo>
                  <a:lnTo>
                    <a:pt x="0" y="23249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46" t="0" r="-18685" b="570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052890" cy="23297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 # Split features and target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X = df.drop("label", axis=1)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y = df["label"]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X_train, X_test, y_train, y_test = train_test_split(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X, y, test_size=0.2, random_state=42)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#Train and evaluate all four models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models = {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"Logistic Regression": LogisticRegression(max_iter=1000), # Increased max_iter to address ConvergenceWarning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"Decision Tree": DecisionTreeClassifier(random_state=42),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"Naive Bayes": GaussianNB(),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"Random Forest": RandomForestClassifier(n_estimators=100, random_state=42)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results = {}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for name, model in models.items():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model.fit(X_train, y_train)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y_pred = model.predict(X_test)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acc = accuracy_score(y_test, y_pred)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results[name] = acc * 100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 print(f"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{name}: {acc*100:.2f}%")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Python Code — Model Loop &amp; Test Predictions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17190720" cy="7955280"/>
            <a:chOff x="0" y="0"/>
            <a:chExt cx="22920960" cy="10607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20961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737360"/>
            <a:ext cx="16459200" cy="12103410"/>
            <a:chOff x="0" y="0"/>
            <a:chExt cx="21945600" cy="16137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6137880"/>
            </a:xfrm>
            <a:custGeom>
              <a:avLst/>
              <a:gdLst/>
              <a:ahLst/>
              <a:cxnLst/>
              <a:rect r="r" b="b" t="t" l="l"/>
              <a:pathLst>
                <a:path h="16137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137880"/>
                  </a:lnTo>
                  <a:lnTo>
                    <a:pt x="0" y="16137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49" t="0" r="-8449" b="380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945600" cy="16185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# Output: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# Logistic Regression: 72.38%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0F4F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# </a:t>
              </a: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Decision Tree: 87.14%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# Naive Bayes: 54.60%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# Random Forest: 90.71%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# -- Test Data Prediction --------------------------------------------------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import pandas as pd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# The test_data DataFrame needs to have the same columns as X (training data).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# This includes the encoded categorical features 'soil_type', 'season', 'region'.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# In a real scenario, you would map actual categorical names to their encoded values.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test_data = pd.DataFrame({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    'N':           [90,  45,  60,  30],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    'P':           [40,  20,  35,  15],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    'K':           [50,  30,  45,  20],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    'temperature':  [25,  30,  22,  28],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    'humidity':     [80,  60,  75,  65],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    'ph':           [6.5, 7.0, 6.8, 5.5],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    'rainfall':     [200, 100, 150,  80],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    'soil_type':    [0, 1, 2, 0],  # Example encoded values (e.g., Clayey, Sandy, Loamy)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    'season':       [0, 1, 2, 0],  # Example encoded values (e.g., Kharif, Rabi, Summer)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    'region':       [0, 1, 2, 0]   # Example encoded values (e.g., Coastal, Inland, Hilly)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0F4F0"/>
                  </a:solidFill>
                  <a:latin typeface="Consolas"/>
                  <a:ea typeface="Consolas"/>
                  <a:cs typeface="Consolas"/>
                  <a:sym typeface="Consolas"/>
                </a:rPr>
                <a:t>})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Python Code — Model Loop &amp; Test Predictions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17190720" cy="7955280"/>
            <a:chOff x="0" y="0"/>
            <a:chExt cx="22920960" cy="10607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20961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371600"/>
            <a:ext cx="16459200" cy="7498080"/>
            <a:chOff x="0" y="0"/>
            <a:chExt cx="21945600" cy="9997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9997440"/>
            </a:xfrm>
            <a:custGeom>
              <a:avLst/>
              <a:gdLst/>
              <a:ahLst/>
              <a:cxnLst/>
              <a:rect r="r" b="b" t="t" l="l"/>
              <a:pathLst>
                <a:path h="9997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997440"/>
                  </a:lnTo>
                  <a:lnTo>
                    <a:pt x="0" y="999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49" t="0" r="-844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945600" cy="10045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 predictions = model.predict(test_data)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 Decode the numerical predictions back to crop types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decoded_predictions = le.inverse_transform(predictions)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print(decoded_predictions)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#output: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#Logistic Regression: 60.27%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#Decision Tree: 87.14%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#Naive Bayes: 67.62%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#Random Forest: 90.71%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#['rice' 'jowar' 'guava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' 'sesame']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Exploratory Data Analysis — Crop Distribution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17190720" cy="7955280"/>
            <a:chOff x="0" y="0"/>
            <a:chExt cx="22920960" cy="10607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20961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737360"/>
            <a:ext cx="16459200" cy="6949440"/>
            <a:chOff x="0" y="0"/>
            <a:chExt cx="21945600" cy="92659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19456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0"/>
                  </a:lnTo>
                  <a:lnTo>
                    <a:pt x="0" y="926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718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8778240"/>
            <a:ext cx="16459200" cy="663990"/>
            <a:chOff x="0" y="0"/>
            <a:chExt cx="21945600" cy="8853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885321"/>
            </a:xfrm>
            <a:custGeom>
              <a:avLst/>
              <a:gdLst/>
              <a:ahLst/>
              <a:cxnLst/>
              <a:rect r="r" b="b" t="t" l="l"/>
              <a:pathLst>
                <a:path h="88532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85321"/>
                  </a:lnTo>
                  <a:lnTo>
                    <a:pt x="0" y="885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801" r="0" b="-4312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945600" cy="904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36E72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Figure: Top 15 Crop Distribution — Karnataka Crop Dataset V2 (21,960 records, 39 crops). Banana, Coconut and Mango are most frequent. Red soil accounts for 30% of samples.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 — Model Accuracy Comparison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10972800" cy="7955280"/>
            <a:chOff x="0" y="0"/>
            <a:chExt cx="14630400" cy="10607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737360"/>
            <a:ext cx="10607040" cy="7406640"/>
            <a:chOff x="0" y="0"/>
            <a:chExt cx="14142720" cy="98755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41427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511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87200" y="1554480"/>
            <a:ext cx="5852160" cy="7955280"/>
            <a:chOff x="0" y="0"/>
            <a:chExt cx="7802880" cy="10607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0288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070080" y="1645920"/>
            <a:ext cx="5486400" cy="548640"/>
            <a:chOff x="0" y="0"/>
            <a:chExt cx="73152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3152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Accuracy Summary</a:t>
              </a:r>
            </a:p>
          </p:txBody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12070080" y="2286000"/>
          <a:ext cx="5461000" cy="2978150"/>
        </p:xfrm>
        <a:graphic>
          <a:graphicData uri="http://schemas.openxmlformats.org/drawingml/2006/table">
            <a:tbl>
              <a:tblPr/>
              <a:tblGrid>
                <a:gridCol w="3271590"/>
                <a:gridCol w="2189410"/>
              </a:tblGrid>
              <a:tr h="591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91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72.38%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Naive Bayes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54.60%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87.14%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9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4332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Random Forest 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4332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90.71% BEST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2" id="22"/>
          <p:cNvGrpSpPr/>
          <p:nvPr/>
        </p:nvGrpSpPr>
        <p:grpSpPr>
          <a:xfrm rot="0">
            <a:off x="12070080" y="5212080"/>
            <a:ext cx="5486400" cy="548640"/>
            <a:chOff x="0" y="0"/>
            <a:chExt cx="73152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Insight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70080" y="5852160"/>
            <a:ext cx="5486400" cy="3291840"/>
            <a:chOff x="0" y="0"/>
            <a:chExt cx="7315200" cy="4389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315200" cy="4408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Random Forest outperforms all classifiers by 18.33 pp over Logistic Regression and 36.11 pp over Naive Bayes.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Ensemble method effectively reduces variance for this multi-class, 39-crop problem.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Results — Feature Importance (Random Forest)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11338560" cy="7955280"/>
            <a:chOff x="0" y="0"/>
            <a:chExt cx="15118080" cy="10607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11808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737360"/>
            <a:ext cx="10972800" cy="7406640"/>
            <a:chOff x="0" y="0"/>
            <a:chExt cx="14630400" cy="98755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4630400" cy="9875520"/>
            </a:xfrm>
            <a:custGeom>
              <a:avLst/>
              <a:gdLst/>
              <a:ahLst/>
              <a:cxnLst/>
              <a:rect r="r" b="b" t="t" l="l"/>
              <a:pathLst>
                <a:path h="9875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1137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252960" y="1554480"/>
            <a:ext cx="5486400" cy="7955280"/>
            <a:chOff x="0" y="0"/>
            <a:chExt cx="7315200" cy="10607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27280" y="1645920"/>
            <a:ext cx="5120640" cy="548640"/>
            <a:chOff x="0" y="0"/>
            <a:chExt cx="68275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Top Predictors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27280" y="2377440"/>
            <a:ext cx="3474720" cy="457200"/>
            <a:chOff x="0" y="0"/>
            <a:chExt cx="463296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6329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#1 Rainfall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002000" y="2377440"/>
            <a:ext cx="1645920" cy="457200"/>
            <a:chOff x="0" y="0"/>
            <a:chExt cx="219456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1945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0.187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527280" y="2889504"/>
            <a:ext cx="4813402" cy="365760"/>
            <a:chOff x="0" y="0"/>
            <a:chExt cx="6417869" cy="487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17818" cy="487680"/>
            </a:xfrm>
            <a:custGeom>
              <a:avLst/>
              <a:gdLst/>
              <a:ahLst/>
              <a:cxnLst/>
              <a:rect r="r" b="b" t="t" l="l"/>
              <a:pathLst>
                <a:path h="487680" w="6417818">
                  <a:moveTo>
                    <a:pt x="0" y="0"/>
                  </a:moveTo>
                  <a:lnTo>
                    <a:pt x="6417818" y="0"/>
                  </a:lnTo>
                  <a:lnTo>
                    <a:pt x="641781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527280" y="3621024"/>
            <a:ext cx="3474720" cy="457200"/>
            <a:chOff x="0" y="0"/>
            <a:chExt cx="463296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6329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#2 Humidity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002000" y="3621024"/>
            <a:ext cx="1645920" cy="457200"/>
            <a:chOff x="0" y="0"/>
            <a:chExt cx="219456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1945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0.162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527280" y="4133088"/>
            <a:ext cx="4198925" cy="365760"/>
            <a:chOff x="0" y="0"/>
            <a:chExt cx="5598566" cy="487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98541" cy="487680"/>
            </a:xfrm>
            <a:custGeom>
              <a:avLst/>
              <a:gdLst/>
              <a:ahLst/>
              <a:cxnLst/>
              <a:rect r="r" b="b" t="t" l="l"/>
              <a:pathLst>
                <a:path h="487680" w="5598541">
                  <a:moveTo>
                    <a:pt x="0" y="0"/>
                  </a:moveTo>
                  <a:lnTo>
                    <a:pt x="5598541" y="0"/>
                  </a:lnTo>
                  <a:lnTo>
                    <a:pt x="5598541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527280" y="4864608"/>
            <a:ext cx="3474720" cy="457200"/>
            <a:chOff x="0" y="0"/>
            <a:chExt cx="463296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6329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#3 Potassium (K)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002000" y="4864608"/>
            <a:ext cx="1645920" cy="457200"/>
            <a:chOff x="0" y="0"/>
            <a:chExt cx="2194560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1945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0.141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527280" y="5376672"/>
            <a:ext cx="3635654" cy="365760"/>
            <a:chOff x="0" y="0"/>
            <a:chExt cx="4847539" cy="487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47590" cy="487680"/>
            </a:xfrm>
            <a:custGeom>
              <a:avLst/>
              <a:gdLst/>
              <a:ahLst/>
              <a:cxnLst/>
              <a:rect r="r" b="b" t="t" l="l"/>
              <a:pathLst>
                <a:path h="487680" w="4847590">
                  <a:moveTo>
                    <a:pt x="0" y="0"/>
                  </a:moveTo>
                  <a:lnTo>
                    <a:pt x="4847590" y="0"/>
                  </a:lnTo>
                  <a:lnTo>
                    <a:pt x="484759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527280" y="6108192"/>
            <a:ext cx="3474720" cy="457200"/>
            <a:chOff x="0" y="0"/>
            <a:chExt cx="4632960" cy="60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6329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#4 Temperature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002000" y="6108192"/>
            <a:ext cx="1645920" cy="457200"/>
            <a:chOff x="0" y="0"/>
            <a:chExt cx="219456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21945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~0.12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527280" y="6620256"/>
            <a:ext cx="3072384" cy="365760"/>
            <a:chOff x="0" y="0"/>
            <a:chExt cx="4096512" cy="487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96512" cy="487680"/>
            </a:xfrm>
            <a:custGeom>
              <a:avLst/>
              <a:gdLst/>
              <a:ahLst/>
              <a:cxnLst/>
              <a:rect r="r" b="b" t="t" l="l"/>
              <a:pathLst>
                <a:path h="48768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95D5B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527280" y="7351776"/>
            <a:ext cx="3474720" cy="457200"/>
            <a:chOff x="0" y="0"/>
            <a:chExt cx="463296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6329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#5 Nitrogen (N)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002000" y="7351776"/>
            <a:ext cx="1645920" cy="457200"/>
            <a:chOff x="0" y="0"/>
            <a:chExt cx="219456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1945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~0.10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527280" y="7863840"/>
            <a:ext cx="2560320" cy="365760"/>
            <a:chOff x="0" y="0"/>
            <a:chExt cx="341376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95D5B2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527280" y="8595360"/>
            <a:ext cx="5303520" cy="731520"/>
            <a:chOff x="0" y="0"/>
            <a:chExt cx="7071360" cy="9753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7071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36E72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Rainfall, Humidity &amp; K are dominant predictors — consistent with Karnataka's agro-climatic conditions.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Base Paper Analysis — ANN vs SMLR Cotton Yield Prediction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10607040" cy="5486400"/>
            <a:chOff x="0" y="0"/>
            <a:chExt cx="14142720" cy="731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427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682496"/>
            <a:ext cx="10241280" cy="5120640"/>
            <a:chOff x="0" y="0"/>
            <a:chExt cx="13655040" cy="682752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655039" cy="6827520"/>
            </a:xfrm>
            <a:custGeom>
              <a:avLst/>
              <a:gdLst/>
              <a:ahLst/>
              <a:cxnLst/>
              <a:rect r="r" b="b" t="t" l="l"/>
              <a:pathLst>
                <a:path h="682752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0"/>
                  </a:lnTo>
                  <a:lnTo>
                    <a:pt x="0" y="682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1007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8640" y="7132320"/>
            <a:ext cx="10607040" cy="548640"/>
            <a:chOff x="0" y="0"/>
            <a:chExt cx="141427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4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4142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36E72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Figure: ANN vs SMLR vs Actual Cotton Yield — F1 Stage, 2020, 10 Karnataka Districts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21440" y="1554480"/>
            <a:ext cx="6217920" cy="6949440"/>
            <a:chOff x="0" y="0"/>
            <a:chExt cx="8290560" cy="926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90560" cy="9265920"/>
            </a:xfrm>
            <a:custGeom>
              <a:avLst/>
              <a:gdLst/>
              <a:ahLst/>
              <a:cxnLst/>
              <a:rect r="r" b="b" t="t" l="l"/>
              <a:pathLst>
                <a:path h="92659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795760" y="1645920"/>
            <a:ext cx="5669280" cy="548640"/>
            <a:chOff x="0" y="0"/>
            <a:chExt cx="75590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5590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Comparison</a:t>
              </a:r>
            </a:p>
          </p:txBody>
        </p:sp>
      </p:grp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11795760" y="2286000"/>
          <a:ext cx="5638800" cy="3587750"/>
        </p:xfrm>
        <a:graphic>
          <a:graphicData uri="http://schemas.openxmlformats.org/drawingml/2006/table">
            <a:tbl>
              <a:tblPr/>
              <a:tblGrid>
                <a:gridCol w="1999256"/>
                <a:gridCol w="2178741"/>
                <a:gridCol w="1460803"/>
              </a:tblGrid>
              <a:tr h="8206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nRMSE Class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±10% Districts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534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SMLR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Fair–Poor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2/10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34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ARIMAX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34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LASSO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3/10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34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4/10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34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4332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ANN 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4332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Excellent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B4332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9/10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5" id="25"/>
          <p:cNvGrpSpPr/>
          <p:nvPr/>
        </p:nvGrpSpPr>
        <p:grpSpPr>
          <a:xfrm rot="0">
            <a:off x="11795760" y="5760720"/>
            <a:ext cx="5669280" cy="2560320"/>
            <a:chOff x="0" y="0"/>
            <a:chExt cx="7559040" cy="3413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5904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559040" cy="343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ANN achieves deviation within ±10% in 9/10 districts vs SMLR's −77% to +41% error.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Morning relative humidity &amp; its interaction with Tmax/Tmin identified as critical cotton yield predictors.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Comparison &amp; Random Forest Test Predictions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17190720" cy="548640"/>
            <a:chOff x="0" y="0"/>
            <a:chExt cx="229209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2920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Comparison with Existing Systems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548640" y="2194560"/>
          <a:ext cx="17170400" cy="3549650"/>
        </p:xfrm>
        <a:graphic>
          <a:graphicData uri="http://schemas.openxmlformats.org/drawingml/2006/table">
            <a:tbl>
              <a:tblPr/>
              <a:tblGrid>
                <a:gridCol w="3657033"/>
                <a:gridCol w="4564986"/>
                <a:gridCol w="4383395"/>
                <a:gridCol w="4564986"/>
              </a:tblGrid>
              <a:tr h="591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Criterion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Traditional (SMLR)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Base Paper (ANN)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This Project (RF)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91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Weather indices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 weather indices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Soil + weather + region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Crops Covered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Cotton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Cotton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 crops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/ Error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±77% deviation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±10% deviation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90.71% 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 Integration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(future)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548640" y="5943600"/>
            <a:ext cx="17190720" cy="548640"/>
            <a:chOff x="0" y="0"/>
            <a:chExt cx="229209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2920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Random Forest Test Predictions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548640" y="6583680"/>
          <a:ext cx="17145000" cy="2959100"/>
        </p:xfrm>
        <a:graphic>
          <a:graphicData uri="http://schemas.openxmlformats.org/drawingml/2006/table">
            <a:tbl>
              <a:tblPr/>
              <a:tblGrid>
                <a:gridCol w="2019725"/>
                <a:gridCol w="3288979"/>
                <a:gridCol w="6734097"/>
                <a:gridCol w="5102199"/>
              </a:tblGrid>
              <a:tr h="5918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Sample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 / P / 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Temp / Humidity / pH / Rainfall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RF Prediction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5918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/ 40 / 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25°C / 80% / 6.5 / 200mm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8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 / 20 / 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30°C / 60% / 7.0 / 100mm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Maize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8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 / 35 / 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22°C / 75% / 6.8 / 150mm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Cotton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8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/ 15 / 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28°C / 65% / 5.5 / 80mm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Groundnut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18288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6771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Summary, Conclusions &amp; 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9784080"/>
            <a:ext cx="17190720" cy="502920"/>
            <a:chOff x="0" y="0"/>
            <a:chExt cx="2292096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670560"/>
            </a:xfrm>
            <a:custGeom>
              <a:avLst/>
              <a:gdLst/>
              <a:ahLst/>
              <a:cxnLst/>
              <a:rect r="r" b="b" t="t" l="l"/>
              <a:pathLst>
                <a:path h="670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034" r="0" b="-6160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920960" cy="689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UAS Bengaluru | COA, GKVK | EAI-421 AI &amp; ML in Agriculture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1554480"/>
            <a:ext cx="8321040" cy="7955280"/>
            <a:chOff x="0" y="0"/>
            <a:chExt cx="11094720" cy="10607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9472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645920"/>
            <a:ext cx="7680960" cy="548640"/>
            <a:chOff x="0" y="0"/>
            <a:chExt cx="102412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Conclusions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377440"/>
            <a:ext cx="7680960" cy="6766560"/>
            <a:chOff x="0" y="0"/>
            <a:chExt cx="10241280" cy="9022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9022080"/>
            </a:xfrm>
            <a:custGeom>
              <a:avLst/>
              <a:gdLst/>
              <a:ahLst/>
              <a:cxnLst/>
              <a:rect r="r" b="b" t="t" l="l"/>
              <a:pathLst>
                <a:path h="9022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022080"/>
                  </a:lnTo>
                  <a:lnTo>
                    <a:pt x="0" y="9022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029" t="0" r="-6302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241280" cy="9041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Random Forest achieves 90.71% accuracy — best among all classifiers (+18.33 pp over LR, +36.11 pp over NB).</a:t>
              </a:r>
            </a:p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Rainfall (0.187), Humidity (0.162) &amp; Potassium/K (0.141) are the top 3 predictors of crop suitability.</a:t>
              </a:r>
            </a:p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SMLR fails to capture non-linear interactions; errors up to −77% in some districts.</a:t>
              </a:r>
            </a:p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ANN (base paper) and RF (this project) both confirm superiority of ML over traditional regression.</a:t>
              </a:r>
            </a:p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is generalizable across 4 agro-climatic regions, 6 soil types, and 3 seasons (Kharif, Rabi, Zaid).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18320" y="1554480"/>
            <a:ext cx="8321040" cy="7955280"/>
            <a:chOff x="0" y="0"/>
            <a:chExt cx="11094720" cy="10607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9472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84080" y="1645920"/>
            <a:ext cx="7680960" cy="548640"/>
            <a:chOff x="0" y="0"/>
            <a:chExt cx="102412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Future Scope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84080" y="2377440"/>
            <a:ext cx="7680960" cy="6766560"/>
            <a:chOff x="0" y="0"/>
            <a:chExt cx="10241280" cy="9022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1280" cy="9022080"/>
            </a:xfrm>
            <a:custGeom>
              <a:avLst/>
              <a:gdLst/>
              <a:ahLst/>
              <a:cxnLst/>
              <a:rect r="r" b="b" t="t" l="l"/>
              <a:pathLst>
                <a:path h="9022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022080"/>
                  </a:lnTo>
                  <a:lnTo>
                    <a:pt x="0" y="9022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029" t="0" r="-6302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241280" cy="9041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343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 Enhancements: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LSTM networks for temporal yield prediction; Transfer Learning (ResNet) for crop disease detection; XAI (SHAP) for interpretability; Reinforcement Learning; Federated Learning.</a:t>
              </a:r>
            </a:p>
            <a:p>
              <a:pPr algn="l" marL="530860" indent="-265430" lvl="1">
                <a:lnSpc>
                  <a:spcPts val="2640"/>
                </a:lnSpc>
              </a:pPr>
              <a:r>
                <a:rPr lang="en-US" b="true" sz="2200">
                  <a:solidFill>
                    <a:srgbClr val="2D343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IoT Integration: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Arduino/RPi soil sensors for real-time N, P, K, pH &amp; moisture; IoT weather stations for hyper-local forecasting; Drone NDVI monitoring.</a:t>
              </a:r>
            </a:p>
            <a:p>
              <a:pPr algn="l" marL="530860" indent="-265430" lvl="1">
                <a:lnSpc>
                  <a:spcPts val="2640"/>
                </a:lnSpc>
              </a:pPr>
              <a:r>
                <a:rPr lang="en-US" b="true" sz="2200">
                  <a:solidFill>
                    <a:srgbClr val="2D343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Deployment: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D343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Multilingual Android/iOS app (Kannada, Hindi, English); Cloud hosting on AWS/GCP; Integration with PM-KISAN digital platform.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29184"/>
            <a:chOff x="0" y="0"/>
            <a:chExt cx="2438400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38912"/>
            </a:xfrm>
            <a:custGeom>
              <a:avLst/>
              <a:gdLst/>
              <a:ahLst/>
              <a:cxnLst/>
              <a:rect r="r" b="b" t="t" l="l"/>
              <a:pathLst>
                <a:path h="4389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475737" y="6388103"/>
            <a:ext cx="6426203" cy="6426203"/>
            <a:chOff x="0" y="0"/>
            <a:chExt cx="8568271" cy="8568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12B1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112B1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83463" y="-927097"/>
            <a:ext cx="4597403" cy="4597403"/>
            <a:chOff x="0" y="0"/>
            <a:chExt cx="6129871" cy="61298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112B1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112B1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28800" y="2194560"/>
            <a:ext cx="14630400" cy="2560320"/>
            <a:chOff x="0" y="0"/>
            <a:chExt cx="19507200" cy="3413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9507200" cy="3423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439"/>
                </a:lnSpc>
              </a:pPr>
              <a:r>
                <a:rPr lang="en-US" sz="111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You!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0" y="5029200"/>
            <a:ext cx="7315200" cy="91440"/>
            <a:chOff x="0" y="0"/>
            <a:chExt cx="9753600" cy="121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0" cy="121920"/>
            </a:xfrm>
            <a:custGeom>
              <a:avLst/>
              <a:gdLst/>
              <a:ahLst/>
              <a:cxnLst/>
              <a:rect r="r" b="b" t="t" l="l"/>
              <a:pathLst>
                <a:path h="1219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28800" y="5303520"/>
            <a:ext cx="14630400" cy="1645920"/>
            <a:chOff x="0" y="0"/>
            <a:chExt cx="1950720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950720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Machine Learning Based Crop Yield Prediction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&amp; Smart Crop Recommendation System for Indian Agriculture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43200" y="7315200"/>
            <a:ext cx="12801600" cy="2011680"/>
            <a:chOff x="0" y="0"/>
            <a:chExt cx="17068800" cy="2682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68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43200" y="7406640"/>
            <a:ext cx="12801600" cy="822960"/>
            <a:chOff x="0" y="0"/>
            <a:chExt cx="170688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70688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Deekshitha.R (AMB2053)  |  Dayana Anjali.S (AMB2050)  |  Maithreyi.S (AMB2126)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743200" y="8321040"/>
            <a:ext cx="12801600" cy="822960"/>
            <a:chOff x="0" y="0"/>
            <a:chExt cx="170688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7068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95D5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COA, UAS, GKVK — Bengaluru | EAI-421: AI &amp; ML in Agriculture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0" y="9966960"/>
            <a:ext cx="18288000" cy="320040"/>
            <a:chOff x="0" y="0"/>
            <a:chExt cx="24384000" cy="426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4000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DAHFrGDIi7o</dc:identifier>
  <dcterms:modified xsi:type="dcterms:W3CDTF">2011-08-01T06:04:30Z</dcterms:modified>
  <cp:revision>1</cp:revision>
  <dc:title>CropML_Presentation.pptx</dc:title>
</cp:coreProperties>
</file>